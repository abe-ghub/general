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99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063898" cy="66751"/>
          </a:xfrm>
          <a:prstGeom prst="rect">
            <a:avLst/>
          </a:prstGeom>
          <a:solidFill>
            <a:srgbClr val="86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3898" cy="66751"/>
          </a:xfrm>
          <a:prstGeom prst="rect">
            <a:avLst/>
          </a:prstGeom>
          <a:solidFill>
            <a:srgbClr val="C29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3898" cy="66751"/>
          </a:xfrm>
          <a:prstGeom prst="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0507" y="246888"/>
            <a:ext cx="7470648" cy="78483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550" b="1" dirty="0">
                <a:solidFill>
                  <a:srgbClr val="86A6FF"/>
                </a:solidFill>
                <a:latin typeface="Aptos Display"/>
              </a:rPr>
              <a:t>Virtual</a:t>
            </a:r>
            <a:r>
              <a:rPr sz="2550" b="1" dirty="0">
                <a:solidFill>
                  <a:srgbClr val="86A6FF"/>
                </a:solidFill>
                <a:latin typeface="Aptos Display"/>
              </a:rPr>
              <a:t> Health - Data Platform Reference
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63908" y="265176"/>
            <a:ext cx="4322707" cy="1197864"/>
          </a:xfrm>
          <a:prstGeom prst="roundRect">
            <a:avLst/>
          </a:prstGeom>
          <a:solidFill>
            <a:srgbClr val="362C52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 flipH="1">
            <a:off x="7463907" y="310896"/>
            <a:ext cx="45719" cy="1106424"/>
          </a:xfrm>
          <a:prstGeom prst="round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90585" y="590954"/>
            <a:ext cx="3940583" cy="53501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69" b="0" dirty="0">
                <a:solidFill>
                  <a:srgbClr val="EAF0FF"/>
                </a:solidFill>
                <a:latin typeface="Aptos"/>
              </a:rPr>
              <a:t>Modernize </a:t>
            </a:r>
            <a:r>
              <a:rPr sz="869" b="0" dirty="0">
                <a:solidFill>
                  <a:srgbClr val="EAF0FF"/>
                </a:solidFill>
                <a:latin typeface="Aptos"/>
              </a:rPr>
              <a:t>fragmented acquisition-era data stores with a governed, AI-ready Snowflake platform. An engagement-signal business spans 300M+ reachable lives, ~80M likely-need and 5–6M engaged. The platform converts those signals into trusted data products and AI-powered consumption.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" y="1563624"/>
            <a:ext cx="1207008" cy="539496"/>
          </a:xfrm>
          <a:prstGeom prst="roundRect">
            <a:avLst/>
          </a:prstGeom>
          <a:solidFill>
            <a:srgbClr val="86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1A3A"/>
                </a:solidFill>
                <a:latin typeface="Aptos Display"/>
              </a:rPr>
              <a:t>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00784" y="1563624"/>
            <a:ext cx="2470023" cy="228600"/>
          </a:xfrm>
          <a:prstGeom prst="roundRect">
            <a:avLst/>
          </a:prstGeom>
          <a:solidFill>
            <a:srgbClr val="23305A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External claims feeds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39387" y="1563624"/>
            <a:ext cx="2470023" cy="228600"/>
          </a:xfrm>
          <a:prstGeom prst="roundRect">
            <a:avLst/>
          </a:prstGeom>
          <a:solidFill>
            <a:srgbClr val="362C52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Eligibility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77990" y="1563624"/>
            <a:ext cx="2470023" cy="228600"/>
          </a:xfrm>
          <a:prstGeom prst="roundRect">
            <a:avLst/>
          </a:prstGeom>
          <a:solidFill>
            <a:srgbClr val="303159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Consultation platform for virtual health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16592" y="1563624"/>
            <a:ext cx="2470023" cy="228600"/>
          </a:xfrm>
          <a:prstGeom prst="roundRect">
            <a:avLst/>
          </a:prstGeom>
          <a:solidFill>
            <a:srgbClr val="23305A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Salesforce Marketing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0784" y="1837943"/>
            <a:ext cx="2470023" cy="228600"/>
          </a:xfrm>
          <a:prstGeom prst="roundRect">
            <a:avLst/>
          </a:prstGeom>
          <a:solidFill>
            <a:srgbClr val="362C52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MySQL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9387" y="1837943"/>
            <a:ext cx="2470023" cy="228600"/>
          </a:xfrm>
          <a:prstGeom prst="roundRect">
            <a:avLst/>
          </a:prstGeom>
          <a:solidFill>
            <a:srgbClr val="303159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PostgreSQL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77990" y="1837943"/>
            <a:ext cx="2470023" cy="228600"/>
          </a:xfrm>
          <a:prstGeom prst="roundRect">
            <a:avLst/>
          </a:prstGeom>
          <a:solidFill>
            <a:srgbClr val="23305A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Vendor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16592" y="1837943"/>
            <a:ext cx="2470023" cy="228600"/>
          </a:xfrm>
          <a:prstGeom prst="roundRect">
            <a:avLst/>
          </a:prstGeom>
          <a:solidFill>
            <a:srgbClr val="362C52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9144" rIns="54864" bIns="9144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1">
                <a:solidFill>
                  <a:srgbClr val="EAF0FF"/>
                </a:solidFill>
                <a:latin typeface="Aptos"/>
              </a:rPr>
              <a:t>Static files and extracts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43700" y="2093976"/>
            <a:ext cx="0" cy="128016"/>
          </a:xfrm>
          <a:prstGeom prst="line">
            <a:avLst/>
          </a:prstGeom>
          <a:ln w="27940">
            <a:solidFill>
              <a:srgbClr val="86A6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00507" y="2231136"/>
            <a:ext cx="1207008" cy="493776"/>
          </a:xfrm>
          <a:prstGeom prst="round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01A3A"/>
                </a:solidFill>
                <a:latin typeface="Aptos Display"/>
              </a:rPr>
              <a:t>Acquisition &amp;
orchestration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00784" y="2231136"/>
            <a:ext cx="4988052" cy="493776"/>
          </a:xfrm>
          <a:prstGeom prst="roundRect">
            <a:avLst/>
          </a:prstGeom>
          <a:solidFill>
            <a:srgbClr val="1C284E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810512" y="2322576"/>
            <a:ext cx="274320" cy="274320"/>
          </a:xfrm>
          <a:prstGeom prst="roundRect">
            <a:avLst/>
          </a:prstGeom>
          <a:solidFill>
            <a:srgbClr val="86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3A"/>
                </a:solidFill>
                <a:latin typeface="Aptos Display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2295144"/>
            <a:ext cx="4411980" cy="17373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86A6FF"/>
                </a:solidFill>
                <a:latin typeface="Aptos Display"/>
              </a:rPr>
              <a:t>Airbyte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76272" y="2468880"/>
            <a:ext cx="4411980" cy="14630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EAF0FF"/>
                </a:solidFill>
                <a:latin typeface="Aptos"/>
              </a:rPr>
              <a:t>Data acquisition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98564" y="2231136"/>
            <a:ext cx="4988052" cy="493776"/>
          </a:xfrm>
          <a:prstGeom prst="roundRect">
            <a:avLst/>
          </a:prstGeom>
          <a:solidFill>
            <a:srgbClr val="282549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08292" y="2322576"/>
            <a:ext cx="274320" cy="274320"/>
          </a:xfrm>
          <a:prstGeom prst="round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01A3A"/>
                </a:solidFill>
                <a:latin typeface="Aptos Display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74052" y="2295144"/>
            <a:ext cx="4411980" cy="17373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1">
                <a:solidFill>
                  <a:srgbClr val="FF8AD0"/>
                </a:solidFill>
                <a:latin typeface="Aptos Display"/>
              </a:rPr>
              <a:t>Airflow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4052" y="2468880"/>
            <a:ext cx="4411980" cy="14630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EAF0FF"/>
                </a:solidFill>
                <a:latin typeface="Aptos"/>
              </a:rPr>
              <a:t>Process orchestration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43700" y="2724912"/>
            <a:ext cx="0" cy="109728"/>
          </a:xfrm>
          <a:prstGeom prst="line">
            <a:avLst/>
          </a:prstGeom>
          <a:ln w="27940">
            <a:solidFill>
              <a:srgbClr val="FF8AD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00507" y="2843784"/>
            <a:ext cx="1207008" cy="1261872"/>
          </a:xfrm>
          <a:prstGeom prst="roundRect">
            <a:avLst/>
          </a:prstGeom>
          <a:solidFill>
            <a:srgbClr val="C29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1A3A"/>
                </a:solidFill>
                <a:latin typeface="Aptos Display"/>
              </a:rPr>
              <a:t>Snowflake
lakehouse
+ dbt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00784" y="2843784"/>
            <a:ext cx="3108960" cy="1261872"/>
          </a:xfrm>
          <a:prstGeom prst="roundRect">
            <a:avLst/>
          </a:prstGeom>
          <a:solidFill>
            <a:srgbClr val="1C284E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0584" rIns="82296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86A6FF"/>
                </a:solidFill>
                <a:latin typeface="Aptos Display"/>
              </a:rPr>
              <a:t>Bronze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86A6FF"/>
                </a:solidFill>
                <a:latin typeface="Aptos"/>
              </a:rPr>
              <a:t>Operational foundation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EAF0FF"/>
                </a:solidFill>
                <a:latin typeface="Aptos"/>
              </a:rPr>
              <a:t>Stage</a:t>
            </a:r>
            <a:r>
              <a:rPr sz="880">
                <a:solidFill>
                  <a:srgbClr val="EAF0FF"/>
                </a:solidFill>
                <a:latin typeface="Aptos"/>
              </a:rPr>
              <a:t> · as-is landing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 b="1">
                <a:solidFill>
                  <a:srgbClr val="EAF0FF"/>
                </a:solidFill>
                <a:latin typeface="Aptos"/>
              </a:rPr>
              <a:t>ODS</a:t>
            </a:r>
            <a:r>
              <a:rPr sz="880">
                <a:solidFill>
                  <a:srgbClr val="EAF0FF"/>
                </a:solidFill>
                <a:latin typeface="Aptos"/>
              </a:rPr>
              <a:t> · enriched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Triggers visit requests, patient follow-ups and health nudges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00784" y="2843784"/>
            <a:ext cx="3108960" cy="45720"/>
          </a:xfrm>
          <a:prstGeom prst="roundRect">
            <a:avLst/>
          </a:prstGeom>
          <a:solidFill>
            <a:srgbClr val="86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901183" y="2843784"/>
            <a:ext cx="4197096" cy="1261872"/>
          </a:xfrm>
          <a:prstGeom prst="roundRect">
            <a:avLst/>
          </a:prstGeom>
          <a:solidFill>
            <a:srgbClr val="24284D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0584" rIns="82296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C298E8"/>
                </a:solidFill>
                <a:latin typeface="Aptos Display"/>
              </a:rPr>
              <a:t>Silver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C298E8"/>
                </a:solidFill>
                <a:latin typeface="Aptos"/>
              </a:rPr>
              <a:t>Domain segmentation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Member · Provider · Network · Marketing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Clinical standardized on the TUVA open-source model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Master data management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01183" y="2843784"/>
            <a:ext cx="4197096" cy="45720"/>
          </a:xfrm>
          <a:prstGeom prst="roundRect">
            <a:avLst/>
          </a:prstGeom>
          <a:solidFill>
            <a:srgbClr val="C29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89719" y="2843784"/>
            <a:ext cx="2596896" cy="1261872"/>
          </a:xfrm>
          <a:prstGeom prst="roundRect">
            <a:avLst/>
          </a:prstGeom>
          <a:solidFill>
            <a:srgbClr val="282549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0584" rIns="82296" rtlCol="0" anchor="ctr"/>
          <a:lstStyle/>
          <a:p>
            <a:pPr algn="ctr">
              <a:spcAft>
                <a:spcPts val="100"/>
              </a:spcAft>
            </a:pPr>
            <a:r>
              <a:rPr sz="1200" b="1">
                <a:solidFill>
                  <a:srgbClr val="FF8AD0"/>
                </a:solidFill>
                <a:latin typeface="Aptos Display"/>
              </a:rPr>
              <a:t>Gold</a:t>
            </a:r>
          </a:p>
          <a:p>
            <a:pPr algn="l">
              <a:spcAft>
                <a:spcPts val="300"/>
              </a:spcAft>
            </a:pPr>
            <a:r>
              <a:rPr sz="830" b="1">
                <a:solidFill>
                  <a:srgbClr val="FF8AD0"/>
                </a:solidFill>
                <a:latin typeface="Aptos"/>
              </a:rPr>
              <a:t>Business marts</a:t>
            </a:r>
          </a:p>
          <a:p>
            <a:pPr algn="l"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FP&amp;A</a:t>
            </a:r>
          </a:p>
          <a:p>
            <a:pPr algn="l"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Sales</a:t>
            </a:r>
          </a:p>
          <a:p>
            <a:pPr algn="l"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Marketing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9719" y="2843784"/>
            <a:ext cx="2596896" cy="45720"/>
          </a:xfrm>
          <a:prstGeom prst="round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6743700" y="4105656"/>
            <a:ext cx="0" cy="118872"/>
          </a:xfrm>
          <a:prstGeom prst="line">
            <a:avLst/>
          </a:prstGeom>
          <a:ln w="27940">
            <a:solidFill>
              <a:srgbClr val="C298E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400507" y="4233672"/>
            <a:ext cx="1207008" cy="749808"/>
          </a:xfrm>
          <a:prstGeom prst="roundRect">
            <a:avLst/>
          </a:prstGeom>
          <a:solidFill>
            <a:srgbClr val="86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1">
                <a:solidFill>
                  <a:srgbClr val="101A3A"/>
                </a:solidFill>
                <a:latin typeface="Aptos Display"/>
              </a:rPr>
              <a:t>Semantic &amp;
governance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0784" y="4233672"/>
            <a:ext cx="4507992" cy="749808"/>
          </a:xfrm>
          <a:prstGeom prst="roundRect">
            <a:avLst/>
          </a:prstGeom>
          <a:solidFill>
            <a:srgbClr val="1C284E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86A6FF"/>
                </a:solidFill>
                <a:latin typeface="Aptos Display"/>
              </a:rPr>
              <a:t>One governed semantic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Snowflake Semantic Views + dbt Semantic Model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0216" y="4233672"/>
            <a:ext cx="5486400" cy="749808"/>
          </a:xfrm>
          <a:prstGeom prst="roundRect">
            <a:avLst/>
          </a:prstGeom>
          <a:solidFill>
            <a:srgbClr val="24284D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98E8"/>
                </a:solidFill>
                <a:latin typeface="Aptos Display"/>
              </a:rPr>
              <a:t>Data Foundry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EAF0FF"/>
                </a:solidFill>
                <a:latin typeface="Aptos"/>
              </a:rPr>
              <a:t>Cross-functional consensus on member, active member, engagement, eligibility and revenue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743700" y="4983480"/>
            <a:ext cx="0" cy="118872"/>
          </a:xfrm>
          <a:prstGeom prst="line">
            <a:avLst/>
          </a:prstGeom>
          <a:ln w="27940">
            <a:solidFill>
              <a:srgbClr val="86A6F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00507" y="5111496"/>
            <a:ext cx="1207008" cy="859536"/>
          </a:xfrm>
          <a:prstGeom prst="round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36576" rIns="73152" bIns="36576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1A3A"/>
                </a:solidFill>
                <a:latin typeface="Aptos Display"/>
              </a:rPr>
              <a:t>Consumption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700784" y="5111496"/>
            <a:ext cx="2642616" cy="859536"/>
          </a:xfrm>
          <a:prstGeom prst="roundRect">
            <a:avLst/>
          </a:prstGeom>
          <a:solidFill>
            <a:srgbClr val="1C284E"/>
          </a:solidFill>
          <a:ln w="10160">
            <a:solidFill>
              <a:srgbClr val="4559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86A6FF"/>
                </a:solidFill>
                <a:latin typeface="Aptos Display"/>
              </a:rPr>
              <a:t>PowerBI + Tableau Cloud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EAF0FF"/>
                </a:solidFill>
                <a:latin typeface="Aptos"/>
              </a:rPr>
              <a:t>BI on the same semantic layer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434840" y="5111496"/>
            <a:ext cx="3822191" cy="859536"/>
          </a:xfrm>
          <a:prstGeom prst="roundRect">
            <a:avLst/>
          </a:prstGeom>
          <a:solidFill>
            <a:srgbClr val="24284D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C298E8"/>
                </a:solidFill>
                <a:latin typeface="Aptos Display"/>
              </a:rPr>
              <a:t>Snowflake Cortex AI 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EAF0FF"/>
                </a:solidFill>
                <a:latin typeface="Aptos"/>
              </a:rPr>
              <a:t>Embedded in web apps · MCP to the dbt semantic layer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48471" y="5111496"/>
            <a:ext cx="3438144" cy="859536"/>
          </a:xfrm>
          <a:prstGeom prst="roundRect">
            <a:avLst/>
          </a:prstGeom>
          <a:solidFill>
            <a:srgbClr val="282549"/>
          </a:solidFill>
          <a:ln w="10160">
            <a:solidFill>
              <a:srgbClr val="7C4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bIns="54864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>
                <a:solidFill>
                  <a:srgbClr val="FF8AD0"/>
                </a:solidFill>
                <a:latin typeface="Aptos Display"/>
              </a:rPr>
              <a:t>Databricks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>
                <a:solidFill>
                  <a:srgbClr val="EAF0FF"/>
                </a:solidFill>
                <a:latin typeface="Aptos"/>
              </a:rPr>
              <a:t>AI models built, trained and deployed · Reads governed semantic models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00507" y="6190488"/>
            <a:ext cx="11384280" cy="630936"/>
          </a:xfrm>
          <a:prstGeom prst="roundRect">
            <a:avLst/>
          </a:prstGeom>
          <a:solidFill>
            <a:srgbClr val="24284D"/>
          </a:solidFill>
          <a:ln w="10160">
            <a:solidFill>
              <a:srgbClr val="6053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0235" y="6345936"/>
            <a:ext cx="1188720" cy="20116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86A6FF"/>
                </a:solidFill>
                <a:latin typeface="Aptos Display"/>
              </a:rPr>
              <a:t>Foundation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10512" y="6309360"/>
            <a:ext cx="18288" cy="347472"/>
          </a:xfrm>
          <a:prstGeom prst="rect">
            <a:avLst/>
          </a:prstGeom>
          <a:solidFill>
            <a:srgbClr val="FF8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938528" y="6318504"/>
            <a:ext cx="36118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EAF0FF"/>
                </a:solidFill>
                <a:latin typeface="Aptos Display"/>
              </a:rPr>
              <a:t>Responsible AI practice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38528" y="6510528"/>
            <a:ext cx="361188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0" b="0">
                <a:solidFill>
                  <a:srgbClr val="ADB4C8"/>
                </a:solidFill>
                <a:latin typeface="Aptos"/>
              </a:rPr>
              <a:t>Governs all AI adoption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64224" y="6309360"/>
            <a:ext cx="18288" cy="347472"/>
          </a:xfrm>
          <a:prstGeom prst="roundRect">
            <a:avLst/>
          </a:prstGeom>
          <a:solidFill>
            <a:srgbClr val="C29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92240" y="6318504"/>
            <a:ext cx="4526280" cy="1828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0" b="1">
                <a:solidFill>
                  <a:srgbClr val="EAF0FF"/>
                </a:solidFill>
                <a:latin typeface="Aptos Display"/>
              </a:rPr>
              <a:t>GitHub Copilot + Claude 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6510528"/>
            <a:ext cx="4709160" cy="1645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ADB4C8"/>
                </a:solidFill>
                <a:latin typeface="Aptos"/>
              </a:rPr>
              <a:t>Narratives and source-to-target mappings into dbt code · ~40% faster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38139" y="285750"/>
            <a:ext cx="8572285" cy="4381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Data Supply Chain to AI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139" y="857250"/>
            <a:ext cx="11315417" cy="838200"/>
          </a:xfrm>
          <a:prstGeom prst="roundRect">
            <a:avLst/>
          </a:prstGeom>
          <a:solidFill>
            <a:srgbClr val="163151"/>
          </a:solidFill>
          <a:ln w="12700">
            <a:solidFill>
              <a:srgbClr val="58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" y="1057275"/>
            <a:ext cx="195257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300M+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584" y="1333500"/>
            <a:ext cx="19525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Potential lives represented by clients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2180" y="1057275"/>
            <a:ext cx="1952576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~80M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180" y="1333500"/>
            <a:ext cx="195257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Likely-need population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4777" y="1057275"/>
            <a:ext cx="180970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5–6M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4777" y="1333500"/>
            <a:ext cx="180970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Members who engage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9784" y="1304925"/>
            <a:ext cx="114297" cy="0"/>
          </a:xfrm>
          <a:prstGeom prst="line">
            <a:avLst/>
          </a:prstGeom>
          <a:ln w="1778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62380" y="1304925"/>
            <a:ext cx="114298" cy="0"/>
          </a:xfrm>
          <a:prstGeom prst="line">
            <a:avLst/>
          </a:prstGeom>
          <a:ln w="1778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8323" y="990599"/>
            <a:ext cx="0" cy="581026"/>
          </a:xfrm>
          <a:prstGeom prst="line">
            <a:avLst/>
          </a:prstGeom>
          <a:ln w="19050">
            <a:solidFill>
              <a:srgbClr val="FF7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19769" y="1019174"/>
            <a:ext cx="4286142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The reach gap creates an engagement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769" y="1276350"/>
            <a:ext cx="428614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Constantly read signals, identify intent, and convert it into activity that drives revenue.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139" y="1857375"/>
            <a:ext cx="1619209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Source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285" y="1857375"/>
            <a:ext cx="2571685" cy="190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AI-enabled engagement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139" y="2133599"/>
            <a:ext cx="1562060" cy="1247775"/>
          </a:xfrm>
          <a:prstGeom prst="roundRect">
            <a:avLst/>
          </a:prstGeom>
          <a:solidFill>
            <a:srgbClr val="112B48"/>
          </a:solidFill>
          <a:ln w="11430">
            <a:solidFill>
              <a:srgbClr val="58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66713" y="2228850"/>
            <a:ext cx="0" cy="1057275"/>
          </a:xfrm>
          <a:prstGeom prst="line">
            <a:avLst/>
          </a:prstGeom>
          <a:ln w="44450">
            <a:solidFill>
              <a:srgbClr val="8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2436" y="2228850"/>
            <a:ext cx="13334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Care 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36" y="2428875"/>
            <a:ext cx="1333466" cy="885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Consultation platform for virtual health
External claims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139" y="3457575"/>
            <a:ext cx="1562060" cy="1000125"/>
          </a:xfrm>
          <a:prstGeom prst="roundRect">
            <a:avLst/>
          </a:prstGeom>
          <a:solidFill>
            <a:srgbClr val="1F263F"/>
          </a:solidFill>
          <a:ln w="11430">
            <a:solidFill>
              <a:srgbClr val="9E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466713" y="3552825"/>
            <a:ext cx="0" cy="809625"/>
          </a:xfrm>
          <a:prstGeom prst="line">
            <a:avLst/>
          </a:prstGeom>
          <a:ln w="44450">
            <a:solidFill>
              <a:srgbClr val="FF7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2436" y="3552825"/>
            <a:ext cx="13334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Population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36" y="3752849"/>
            <a:ext cx="133346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Eligibility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139" y="4533900"/>
            <a:ext cx="1562060" cy="1000125"/>
          </a:xfrm>
          <a:prstGeom prst="roundRect">
            <a:avLst/>
          </a:prstGeom>
          <a:solidFill>
            <a:srgbClr val="1B2C49"/>
          </a:solidFill>
          <a:ln w="11430">
            <a:solidFill>
              <a:srgbClr val="BC8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466713" y="4629150"/>
            <a:ext cx="0" cy="809624"/>
          </a:xfrm>
          <a:prstGeom prst="line">
            <a:avLst/>
          </a:prstGeom>
          <a:ln w="44450">
            <a:solidFill>
              <a:srgbClr val="BA8F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52436" y="4629150"/>
            <a:ext cx="13334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436" y="4829175"/>
            <a:ext cx="133346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Salesforce Marketing Cloud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139" y="5610224"/>
            <a:ext cx="1562060" cy="1000125"/>
          </a:xfrm>
          <a:prstGeom prst="roundRect">
            <a:avLst/>
          </a:prstGeom>
          <a:solidFill>
            <a:srgbClr val="09233C"/>
          </a:solidFill>
          <a:ln w="11430">
            <a:solidFill>
              <a:srgbClr val="98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466713" y="5705475"/>
            <a:ext cx="0" cy="809625"/>
          </a:xfrm>
          <a:prstGeom prst="line">
            <a:avLst/>
          </a:prstGeom>
          <a:ln w="44450">
            <a:solidFill>
              <a:srgbClr val="98B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52436" y="5705475"/>
            <a:ext cx="133346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Supporting systems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2436" y="5905500"/>
            <a:ext cx="133346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MySQL · PostgreSQL
Vendor APIs · static files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095447" y="4495799"/>
            <a:ext cx="190495" cy="0"/>
          </a:xfrm>
          <a:prstGeom prst="line">
            <a:avLst/>
          </a:prstGeom>
          <a:ln w="1778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381190" y="1809749"/>
            <a:ext cx="5714857" cy="552450"/>
          </a:xfrm>
          <a:prstGeom prst="roundRect">
            <a:avLst/>
          </a:prstGeom>
          <a:solidFill>
            <a:srgbClr val="375285"/>
          </a:solidFill>
          <a:ln w="12700">
            <a:solidFill>
              <a:srgbClr val="9CB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14537" y="1924049"/>
            <a:ext cx="142871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Governed semantic
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24201" y="1971675"/>
            <a:ext cx="4038499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6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Snowflake Semantic views · dbt Semantic model · Data Foundry shared definitions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81190" y="2457450"/>
            <a:ext cx="5714857" cy="4057650"/>
          </a:xfrm>
          <a:prstGeom prst="roundRect">
            <a:avLst/>
          </a:prstGeom>
          <a:solidFill>
            <a:srgbClr val="09233C"/>
          </a:solidFill>
          <a:ln w="12700">
            <a:solidFill>
              <a:srgbClr val="3E5A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62179" y="2571751"/>
            <a:ext cx="4679153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Snowflake data platform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495487" y="2819399"/>
            <a:ext cx="723881" cy="3486150"/>
          </a:xfrm>
          <a:prstGeom prst="roundRect">
            <a:avLst/>
          </a:prstGeom>
          <a:solidFill>
            <a:srgbClr val="242742"/>
          </a:solidFill>
          <a:ln w="10160">
            <a:solidFill>
              <a:srgbClr val="9E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571685" y="2867025"/>
            <a:ext cx="57148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Acquire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1685" y="3371850"/>
            <a:ext cx="571485" cy="287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Airbyte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33666" y="2819399"/>
            <a:ext cx="971525" cy="3486150"/>
          </a:xfrm>
          <a:prstGeom prst="roundRect">
            <a:avLst/>
          </a:prstGeom>
          <a:solidFill>
            <a:srgbClr val="1B2C49"/>
          </a:solidFill>
          <a:ln w="10160">
            <a:solidFill>
              <a:srgbClr val="BC8F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09864" y="2867025"/>
            <a:ext cx="819129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Bronze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09864" y="3124200"/>
            <a:ext cx="819129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996D4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Stage as-is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9864" y="3371850"/>
            <a:ext cx="819129" cy="287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4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Source fidelity
and replayable
history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19489" y="2819399"/>
            <a:ext cx="1162020" cy="3486150"/>
          </a:xfrm>
          <a:prstGeom prst="roundRect">
            <a:avLst/>
          </a:prstGeom>
          <a:solidFill>
            <a:srgbClr val="142E4C"/>
          </a:solidFill>
          <a:ln w="10160">
            <a:solidFill>
              <a:srgbClr val="58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495687" y="2867025"/>
            <a:ext cx="100962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ODS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95687" y="3124200"/>
            <a:ext cx="1009624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9AB2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Enrich for operations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95687" y="3371850"/>
            <a:ext cx="1009624" cy="287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Visit requests
Patient follow-ups
Health-management
nudges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95807" y="2819399"/>
            <a:ext cx="1219169" cy="3486150"/>
          </a:xfrm>
          <a:prstGeom prst="roundRect">
            <a:avLst/>
          </a:prstGeom>
          <a:solidFill>
            <a:srgbClr val="1F263F"/>
          </a:solidFill>
          <a:ln w="10160">
            <a:solidFill>
              <a:srgbClr val="9E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772005" y="2867025"/>
            <a:ext cx="106677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Silver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72005" y="3124200"/>
            <a:ext cx="1066773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996D4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Standardize domains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72005" y="3371850"/>
            <a:ext cx="1066773" cy="287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Member · Provider ·
Network · Clinical on
TUVA · Marketing · MDM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029274" y="2819399"/>
            <a:ext cx="819129" cy="3486150"/>
          </a:xfrm>
          <a:prstGeom prst="roundRect">
            <a:avLst/>
          </a:prstGeom>
          <a:solidFill>
            <a:srgbClr val="09233C"/>
          </a:solidFill>
          <a:ln w="10160">
            <a:solidFill>
              <a:srgbClr val="98B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105472" y="2867025"/>
            <a:ext cx="66673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Gold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05472" y="3124200"/>
            <a:ext cx="666733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9AB2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Business-ready marts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05472" y="3371850"/>
            <a:ext cx="666733" cy="28765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3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FP&amp;A
Sales
Marketing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76518" y="4524374"/>
            <a:ext cx="95247" cy="0"/>
          </a:xfrm>
          <a:prstGeom prst="line">
            <a:avLst/>
          </a:prstGeom>
          <a:ln w="1524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362340" y="4524374"/>
            <a:ext cx="95248" cy="0"/>
          </a:xfrm>
          <a:prstGeom prst="line">
            <a:avLst/>
          </a:prstGeom>
          <a:ln w="15240">
            <a:solidFill>
              <a:srgbClr val="BA8FE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638659" y="4524374"/>
            <a:ext cx="95247" cy="0"/>
          </a:xfrm>
          <a:prstGeom prst="line">
            <a:avLst/>
          </a:prstGeom>
          <a:ln w="15240">
            <a:solidFill>
              <a:srgbClr val="82A0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972125" y="4524374"/>
            <a:ext cx="95248" cy="0"/>
          </a:xfrm>
          <a:prstGeom prst="line">
            <a:avLst/>
          </a:prstGeom>
          <a:ln w="1524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2381190" y="6572250"/>
            <a:ext cx="5714857" cy="0"/>
          </a:xfrm>
          <a:prstGeom prst="line">
            <a:avLst/>
          </a:prstGeom>
          <a:ln w="20320">
            <a:solidFill>
              <a:srgbClr val="FF7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495487" y="6648450"/>
            <a:ext cx="1142971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Airflow orchestration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76558" y="6648450"/>
            <a:ext cx="409564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7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Coordinates the supply chain · dbt transforms data in Snowflake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191295" y="2095499"/>
            <a:ext cx="0" cy="3333751"/>
          </a:xfrm>
          <a:prstGeom prst="line">
            <a:avLst/>
          </a:prstGeom>
          <a:ln w="19050">
            <a:solidFill>
              <a:srgbClr val="8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8191295" y="2571750"/>
            <a:ext cx="323842" cy="0"/>
          </a:xfrm>
          <a:prstGeom prst="line">
            <a:avLst/>
          </a:prstGeom>
          <a:ln w="19050">
            <a:solidFill>
              <a:srgbClr val="82A0F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8191295" y="4000500"/>
            <a:ext cx="323842" cy="0"/>
          </a:xfrm>
          <a:prstGeom prst="line">
            <a:avLst/>
          </a:prstGeom>
          <a:ln w="19050">
            <a:solidFill>
              <a:srgbClr val="FF7AC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8191295" y="5429250"/>
            <a:ext cx="323842" cy="0"/>
          </a:xfrm>
          <a:prstGeom prst="line">
            <a:avLst/>
          </a:prstGeom>
          <a:ln w="19050">
            <a:solidFill>
              <a:srgbClr val="BAC3D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572285" y="2114550"/>
            <a:ext cx="3143171" cy="1238249"/>
          </a:xfrm>
          <a:prstGeom prst="roundRect">
            <a:avLst/>
          </a:prstGeom>
          <a:solidFill>
            <a:srgbClr val="122D4A"/>
          </a:solidFill>
          <a:ln w="13970">
            <a:solidFill>
              <a:srgbClr val="5875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5" name="Rounded Rectangle 74"/>
          <p:cNvSpPr/>
          <p:nvPr/>
        </p:nvSpPr>
        <p:spPr>
          <a:xfrm>
            <a:off x="8686582" y="2238375"/>
            <a:ext cx="85722" cy="85725"/>
          </a:xfrm>
          <a:prstGeom prst="roundRect">
            <a:avLst/>
          </a:prstGeom>
          <a:solidFill>
            <a:srgbClr val="82A0FF"/>
          </a:solidFill>
          <a:ln>
            <a:solidFill>
              <a:srgbClr val="82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8838979" y="2209800"/>
            <a:ext cx="95247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9AB2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Delivered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86582" y="2409825"/>
            <a:ext cx="2876478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Member nudge and Digital Companion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582" y="2676524"/>
            <a:ext cx="287647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Uses coherent member context to coach continuity of care
and surface the next best action.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686582" y="3105149"/>
            <a:ext cx="2876478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9AB2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Snowflake Cortex AI agent → Digital Companion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72285" y="3448049"/>
            <a:ext cx="3143171" cy="1390650"/>
          </a:xfrm>
          <a:prstGeom prst="roundRect">
            <a:avLst/>
          </a:prstGeom>
          <a:solidFill>
            <a:srgbClr val="212641"/>
          </a:solidFill>
          <a:ln w="13970">
            <a:solidFill>
              <a:srgbClr val="9E5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Rounded Rectangle 80"/>
          <p:cNvSpPr/>
          <p:nvPr/>
        </p:nvSpPr>
        <p:spPr>
          <a:xfrm>
            <a:off x="8686582" y="3571875"/>
            <a:ext cx="85722" cy="85725"/>
          </a:xfrm>
          <a:prstGeom prst="roundRect">
            <a:avLst/>
          </a:prstGeom>
          <a:solidFill>
            <a:srgbClr val="FF7AC6"/>
          </a:solidFill>
          <a:ln>
            <a:solidFill>
              <a:srgbClr val="FF7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838979" y="3543300"/>
            <a:ext cx="95247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F996D4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Delivered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686582" y="3743325"/>
            <a:ext cx="2876478" cy="238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Marketing segmentation interface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86582" y="4010024"/>
            <a:ext cx="2876478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4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Lets Marketing users probe and segment members
conversationally for campaign modeling.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686582" y="4476750"/>
            <a:ext cx="287647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5" b="1" i="0" u="none" strike="noStrike" kern="1200" cap="none" spc="0" normalizeH="0" baseline="0" noProof="0">
                <a:ln>
                  <a:noFill/>
                </a:ln>
                <a:solidFill>
                  <a:srgbClr val="F996D4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Cortex agent · Web app embed · MCP to dbt semantic layer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572285" y="4933950"/>
            <a:ext cx="3143171" cy="933449"/>
          </a:xfrm>
          <a:prstGeom prst="roundRect">
            <a:avLst/>
          </a:prstGeom>
          <a:solidFill>
            <a:srgbClr val="0E273A"/>
          </a:solidFill>
          <a:ln w="12700">
            <a:solidFill>
              <a:srgbClr val="BAC3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8686582" y="5057775"/>
            <a:ext cx="85722" cy="85725"/>
          </a:xfrm>
          <a:prstGeom prst="roundRect">
            <a:avLst/>
          </a:prstGeom>
          <a:solidFill>
            <a:srgbClr val="0E273A"/>
          </a:solidFill>
          <a:ln w="10160">
            <a:solidFill>
              <a:srgbClr val="BAC3D5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838979" y="5029200"/>
            <a:ext cx="142871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1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Vision — not built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686582" y="5238749"/>
            <a:ext cx="2876478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Fraunces"/>
                <a:ea typeface="+mn-ea"/>
                <a:cs typeface="+mn-cs"/>
              </a:rPr>
              <a:t>Digital Twin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686582" y="5486400"/>
            <a:ext cx="287647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10" b="0" i="0" u="none" strike="noStrike" kern="1200" cap="none" spc="0" normalizeH="0" baseline="0" noProof="0">
                <a:ln>
                  <a:noFill/>
                </a:ln>
                <a:solidFill>
                  <a:srgbClr val="E8ED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Responsibly predict health outcomes from choices and preferences.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0572485" y="6095999"/>
            <a:ext cx="114297" cy="0"/>
          </a:xfrm>
          <a:prstGeom prst="line">
            <a:avLst/>
          </a:prstGeom>
          <a:ln w="27940">
            <a:solidFill>
              <a:srgbClr val="82A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0734406" y="6019800"/>
            <a:ext cx="57148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0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Delivered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11286842" y="6095999"/>
            <a:ext cx="114297" cy="0"/>
          </a:xfrm>
          <a:prstGeom prst="line">
            <a:avLst/>
          </a:prstGeom>
          <a:ln w="19050">
            <a:solidFill>
              <a:srgbClr val="BAC3D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11448763" y="6019800"/>
            <a:ext cx="38099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20" b="0" i="0" u="none" strike="noStrike" kern="1200" cap="none" spc="0" normalizeH="0" baseline="0" noProof="0">
                <a:ln>
                  <a:noFill/>
                </a:ln>
                <a:solidFill>
                  <a:srgbClr val="BAC3D5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467</Words>
  <Application>Microsoft Office PowerPoint</Application>
  <PresentationFormat>Widescreen</PresentationFormat>
  <Paragraphs>102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Fraunces</vt:lpstr>
      <vt:lpstr>Inter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Reference Architecture</dc:title>
  <dc:subject>Editable Teladoc Health data platform reference architecture</dc:subject>
  <dc:creator>Rocky</dc:creator>
  <cp:keywords/>
  <dc:description>All slide content is built from native PowerPoint text boxes, rectangles, and connectors.</dc:description>
  <cp:lastModifiedBy>Abraham Kirubakaran</cp:lastModifiedBy>
  <cp:revision>3</cp:revision>
  <dcterms:created xsi:type="dcterms:W3CDTF">2013-01-27T09:14:16Z</dcterms:created>
  <dcterms:modified xsi:type="dcterms:W3CDTF">2026-10-12T19:39:33Z</dcterms:modified>
  <cp:category/>
</cp:coreProperties>
</file>